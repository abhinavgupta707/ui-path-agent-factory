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793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tllkBOpSIo+foDNAV8ppHfAkj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072550-EF59-46E0-827C-C5B7B6B1D680}">
  <a:tblStyle styleId="{D7072550-EF59-46E0-827C-C5B7B6B1D68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rgbClr val="0BA2B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9770" y="5461000"/>
            <a:ext cx="15240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9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3" name="Google Shape;13;p9"/>
          <p:cNvSpPr txBox="1"/>
          <p:nvPr>
            <p:ph idx="1" type="body"/>
          </p:nvPr>
        </p:nvSpPr>
        <p:spPr>
          <a:xfrm>
            <a:off x="640800" y="5886454"/>
            <a:ext cx="8280000" cy="451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9"/>
          <p:cNvSpPr txBox="1"/>
          <p:nvPr>
            <p:ph type="title"/>
          </p:nvPr>
        </p:nvSpPr>
        <p:spPr>
          <a:xfrm>
            <a:off x="640800" y="4843803"/>
            <a:ext cx="8280000" cy="1037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id="16" name="Google Shape;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6196" y="435122"/>
            <a:ext cx="1116970" cy="363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logo">
  <p:cSld name="Slide with logo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10"/>
          <p:cNvSpPr/>
          <p:nvPr/>
        </p:nvSpPr>
        <p:spPr>
          <a:xfrm>
            <a:off x="10297948" y="1240221"/>
            <a:ext cx="1481958" cy="6726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31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B4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ntents">
  <p:cSld name="Title and 2 Conten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9650" y="0"/>
            <a:ext cx="6089650" cy="2087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92400"/>
            <a:ext cx="4178300" cy="41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1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1"/>
          <p:cNvSpPr txBox="1"/>
          <p:nvPr>
            <p:ph idx="1" type="body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1"/>
          <p:cNvSpPr txBox="1"/>
          <p:nvPr>
            <p:ph idx="2" type="body"/>
          </p:nvPr>
        </p:nvSpPr>
        <p:spPr>
          <a:xfrm>
            <a:off x="36000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1"/>
          <p:cNvSpPr txBox="1"/>
          <p:nvPr>
            <p:ph idx="3" type="body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1"/>
          <p:cNvSpPr txBox="1"/>
          <p:nvPr>
            <p:ph idx="4" type="body"/>
          </p:nvPr>
        </p:nvSpPr>
        <p:spPr>
          <a:xfrm>
            <a:off x="608965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1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7661" y="404660"/>
            <a:ext cx="1063903" cy="34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 showMasterSp="0">
  <p:cSld name="Custom Layou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635128" y="4640687"/>
            <a:ext cx="9000000" cy="45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2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6" name="Google Shape;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348" y="393566"/>
            <a:ext cx="6557643" cy="355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accen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97670" y="5461000"/>
            <a:ext cx="18161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529" y="190499"/>
            <a:ext cx="18161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3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2" name="Google Shape;42;p13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640800" y="5850000"/>
            <a:ext cx="3818481" cy="63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A322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2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3"/>
          <p:cNvSpPr txBox="1"/>
          <p:nvPr>
            <p:ph idx="2" type="body"/>
          </p:nvPr>
        </p:nvSpPr>
        <p:spPr>
          <a:xfrm>
            <a:off x="640800" y="4574120"/>
            <a:ext cx="8822225" cy="914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3"/>
          <p:cNvSpPr txBox="1"/>
          <p:nvPr>
            <p:ph idx="3" type="subTitle"/>
          </p:nvPr>
        </p:nvSpPr>
        <p:spPr>
          <a:xfrm>
            <a:off x="644227" y="2845823"/>
            <a:ext cx="8820000" cy="151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1666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6" name="Google Shape;4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21449" y="507429"/>
            <a:ext cx="1496116" cy="748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4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4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Dark" showMasterSp="0">
  <p:cSld name="Title and Content Dark">
    <p:bg>
      <p:bgPr>
        <a:solidFill>
          <a:schemeClr val="accent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15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5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Teal" showMasterSp="0">
  <p:cSld name="1_Title and Content Teal">
    <p:bg>
      <p:bgPr>
        <a:solidFill>
          <a:schemeClr val="accent4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only">
  <p:cSld name="Headline 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only Dark" showMasterSp="0">
  <p:cSld name="Headline only Dark">
    <p:bg>
      <p:bgPr>
        <a:solidFill>
          <a:schemeClr val="accen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eadline only Teal" showMasterSp="0">
  <p:cSld name="1_Headline only Teal">
    <p:bg>
      <p:bgPr>
        <a:solidFill>
          <a:schemeClr val="accent4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>
  <p:cSld name="Comparison">
    <p:bg>
      <p:bgPr>
        <a:solidFill>
          <a:schemeClr val="accent3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5678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20"/>
          <p:cNvSpPr txBox="1"/>
          <p:nvPr>
            <p:ph type="title"/>
          </p:nvPr>
        </p:nvSpPr>
        <p:spPr>
          <a:xfrm>
            <a:off x="359999" y="1674394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6480000" y="1674393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2" type="body"/>
          </p:nvPr>
        </p:nvSpPr>
        <p:spPr>
          <a:xfrm>
            <a:off x="648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68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20"/>
          <p:cNvSpPr txBox="1"/>
          <p:nvPr>
            <p:ph idx="3" type="body"/>
          </p:nvPr>
        </p:nvSpPr>
        <p:spPr>
          <a:xfrm>
            <a:off x="36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20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" showMasterSp="0">
  <p:cSld name="Quote Slide">
    <p:bg>
      <p:bgPr>
        <a:solidFill>
          <a:schemeClr val="accen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90" name="Google Shape;90;p21"/>
          <p:cNvSpPr txBox="1"/>
          <p:nvPr/>
        </p:nvSpPr>
        <p:spPr>
          <a:xfrm>
            <a:off x="1343734" y="2179914"/>
            <a:ext cx="239177" cy="327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1" name="Google Shape;91;p21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1"/>
          <p:cNvSpPr/>
          <p:nvPr/>
        </p:nvSpPr>
        <p:spPr>
          <a:xfrm flipH="1" rot="10800000">
            <a:off x="9366432" y="5569929"/>
            <a:ext cx="505472" cy="505473"/>
          </a:xfrm>
          <a:prstGeom prst="rect">
            <a:avLst/>
          </a:prstGeom>
          <a:solidFill>
            <a:srgbClr val="0BA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1"/>
          <p:cNvSpPr txBox="1"/>
          <p:nvPr>
            <p:ph type="title"/>
          </p:nvPr>
        </p:nvSpPr>
        <p:spPr>
          <a:xfrm>
            <a:off x="1591200" y="2187168"/>
            <a:ext cx="8405525" cy="197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  <a:defRPr sz="38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1591200" y="4421963"/>
            <a:ext cx="7025229" cy="8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5" name="Google Shape;9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74886" y="5067046"/>
            <a:ext cx="2006600" cy="1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hoto">
  <p:cSld name="Content with photo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/>
          <p:nvPr>
            <p:ph idx="2" type="pic"/>
          </p:nvPr>
        </p:nvSpPr>
        <p:spPr>
          <a:xfrm>
            <a:off x="7937500" y="1447601"/>
            <a:ext cx="4241800" cy="5410399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2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360000" y="1440000"/>
            <a:ext cx="72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22"/>
          <p:cNvSpPr txBox="1"/>
          <p:nvPr>
            <p:ph idx="3" type="body"/>
          </p:nvPr>
        </p:nvSpPr>
        <p:spPr>
          <a:xfrm>
            <a:off x="360000" y="1799999"/>
            <a:ext cx="72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3" name="Google Shape;10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7500" y="3935445"/>
            <a:ext cx="9652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2"/>
          <p:cNvSpPr txBox="1"/>
          <p:nvPr>
            <p:ph idx="4" type="body"/>
          </p:nvPr>
        </p:nvSpPr>
        <p:spPr>
          <a:xfrm>
            <a:off x="2793987" y="4888595"/>
            <a:ext cx="6980036" cy="1969405"/>
          </a:xfrm>
          <a:prstGeom prst="rect">
            <a:avLst/>
          </a:prstGeom>
          <a:solidFill>
            <a:srgbClr val="CCF2FF"/>
          </a:solidFill>
          <a:ln>
            <a:noFill/>
          </a:ln>
        </p:spPr>
        <p:txBody>
          <a:bodyPr anchorCtr="0" anchor="t" bIns="317500" lIns="317500" spcFirstLastPara="1" rIns="317500" wrap="square" tIns="317500">
            <a:noAutofit/>
          </a:bodyPr>
          <a:lstStyle>
            <a:lvl1pPr indent="-228600" lvl="0" marL="45720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"/>
              <a:buNone/>
              <a:defRPr b="1" i="0" sz="1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2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Slide 4" showMasterSp="0">
  <p:cSld name="TOC Slide 4">
    <p:bg>
      <p:bgPr>
        <a:solidFill>
          <a:schemeClr val="accent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36000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3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3"/>
          <p:cNvSpPr txBox="1"/>
          <p:nvPr>
            <p:ph idx="2" type="body"/>
          </p:nvPr>
        </p:nvSpPr>
        <p:spPr>
          <a:xfrm>
            <a:off x="322999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09998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896997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4" name="Google Shape;1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Slide 8" showMasterSp="0">
  <p:cSld name="TOC Slide 8">
    <p:bg>
      <p:bgPr>
        <a:solidFill>
          <a:schemeClr val="accent4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36000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24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4"/>
          <p:cNvSpPr txBox="1"/>
          <p:nvPr>
            <p:ph idx="2" type="body"/>
          </p:nvPr>
        </p:nvSpPr>
        <p:spPr>
          <a:xfrm>
            <a:off x="322999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24"/>
          <p:cNvSpPr txBox="1"/>
          <p:nvPr>
            <p:ph idx="3" type="body"/>
          </p:nvPr>
        </p:nvSpPr>
        <p:spPr>
          <a:xfrm>
            <a:off x="609998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4" type="body"/>
          </p:nvPr>
        </p:nvSpPr>
        <p:spPr>
          <a:xfrm>
            <a:off x="896997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24"/>
          <p:cNvSpPr txBox="1"/>
          <p:nvPr>
            <p:ph idx="5" type="body"/>
          </p:nvPr>
        </p:nvSpPr>
        <p:spPr>
          <a:xfrm>
            <a:off x="36000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24"/>
          <p:cNvSpPr txBox="1"/>
          <p:nvPr>
            <p:ph idx="6" type="body"/>
          </p:nvPr>
        </p:nvSpPr>
        <p:spPr>
          <a:xfrm>
            <a:off x="322999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24"/>
          <p:cNvSpPr txBox="1"/>
          <p:nvPr>
            <p:ph idx="7" type="body"/>
          </p:nvPr>
        </p:nvSpPr>
        <p:spPr>
          <a:xfrm>
            <a:off x="609998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24"/>
          <p:cNvSpPr txBox="1"/>
          <p:nvPr>
            <p:ph idx="8" type="body"/>
          </p:nvPr>
        </p:nvSpPr>
        <p:spPr>
          <a:xfrm>
            <a:off x="896997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7" name="Google Shape;12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Table Dark" showMasterSp="0">
  <p:cSld name="Agenda slide Table Dark">
    <p:bg>
      <p:bgPr>
        <a:solidFill>
          <a:schemeClr val="accen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2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Table" showMasterSp="0">
  <p:cSld name="Agenda slide Table">
    <p:bg>
      <p:bgPr>
        <a:solidFill>
          <a:schemeClr val="accent4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2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60000" y="2610760"/>
            <a:ext cx="3478685" cy="2108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2" type="body"/>
          </p:nvPr>
        </p:nvSpPr>
        <p:spPr>
          <a:xfrm>
            <a:off x="4308328" y="2610760"/>
            <a:ext cx="3478685" cy="21082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27"/>
          <p:cNvSpPr txBox="1"/>
          <p:nvPr>
            <p:ph idx="3" type="body"/>
          </p:nvPr>
        </p:nvSpPr>
        <p:spPr>
          <a:xfrm>
            <a:off x="8256655" y="2610760"/>
            <a:ext cx="3478685" cy="21082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logo Dark" showMasterSp="0">
  <p:cSld name="Slide with logo Dark">
    <p:bg>
      <p:bgPr>
        <a:solidFill>
          <a:schemeClr val="accent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2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with logo Teal" showMasterSp="0">
  <p:cSld name="1_Slide with logo Teal">
    <p:bg>
      <p:bgPr>
        <a:solidFill>
          <a:schemeClr val="accent4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2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 showMasterSp="0">
  <p:cSld name="Thank You Slide">
    <p:bg>
      <p:bgPr>
        <a:solidFill>
          <a:schemeClr val="accen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54" name="Google Shape;154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0348" y="393566"/>
            <a:ext cx="6557644" cy="355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617538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3473690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30"/>
          <p:cNvSpPr txBox="1"/>
          <p:nvPr>
            <p:ph idx="3" type="body"/>
          </p:nvPr>
        </p:nvSpPr>
        <p:spPr>
          <a:xfrm>
            <a:off x="6329842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30"/>
          <p:cNvSpPr txBox="1"/>
          <p:nvPr>
            <p:ph idx="4" type="body"/>
          </p:nvPr>
        </p:nvSpPr>
        <p:spPr>
          <a:xfrm>
            <a:off x="9185994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5" type="body"/>
          </p:nvPr>
        </p:nvSpPr>
        <p:spPr>
          <a:xfrm>
            <a:off x="617538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30"/>
          <p:cNvSpPr txBox="1"/>
          <p:nvPr>
            <p:ph idx="6" type="body"/>
          </p:nvPr>
        </p:nvSpPr>
        <p:spPr>
          <a:xfrm>
            <a:off x="3473690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30"/>
          <p:cNvSpPr txBox="1"/>
          <p:nvPr>
            <p:ph idx="7" type="body"/>
          </p:nvPr>
        </p:nvSpPr>
        <p:spPr>
          <a:xfrm>
            <a:off x="6329842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30"/>
          <p:cNvSpPr txBox="1"/>
          <p:nvPr>
            <p:ph idx="8" type="body"/>
          </p:nvPr>
        </p:nvSpPr>
        <p:spPr>
          <a:xfrm>
            <a:off x="9185994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8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8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" name="Google Shape;9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 txBox="1"/>
          <p:nvPr>
            <p:ph idx="1" type="body"/>
          </p:nvPr>
        </p:nvSpPr>
        <p:spPr>
          <a:xfrm>
            <a:off x="640800" y="3608250"/>
            <a:ext cx="9246600" cy="1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D1117"/>
                </a:solidFill>
                <a:highlight>
                  <a:srgbClr val="F0F6FC"/>
                </a:highlight>
              </a:rPr>
              <a:t>A multimodal AI accessibility platform that combines computer vision, conversational AI, document intelligence, and intelligent automation to simplify everyday life for people with disabilities.</a:t>
            </a:r>
            <a:endParaRPr sz="1800">
              <a:solidFill>
                <a:srgbClr val="0D1117"/>
              </a:solidFill>
              <a:highlight>
                <a:srgbClr val="F0F6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  <p:sp>
        <p:nvSpPr>
          <p:cNvPr id="169" name="Google Shape;169;p1"/>
          <p:cNvSpPr txBox="1"/>
          <p:nvPr>
            <p:ph type="title"/>
          </p:nvPr>
        </p:nvSpPr>
        <p:spPr>
          <a:xfrm>
            <a:off x="464800" y="1492775"/>
            <a:ext cx="8568000" cy="17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 u="sng"/>
              <a:t>AURA- Adaptive Universal</a:t>
            </a:r>
            <a:endParaRPr sz="5300" u="sng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 u="sng"/>
              <a:t>Reality ASSISTANT</a:t>
            </a:r>
            <a:endParaRPr sz="5300" u="sng"/>
          </a:p>
        </p:txBody>
      </p:sp>
      <p:pic>
        <p:nvPicPr>
          <p:cNvPr id="170" name="Google Shape;17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6775" y="778600"/>
            <a:ext cx="3861067" cy="21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24"/>
              </a:buClr>
              <a:buSzPts val="3000"/>
              <a:buFont typeface="Arial"/>
              <a:buNone/>
            </a:pPr>
            <a:r>
              <a:rPr lang="en-US">
                <a:solidFill>
                  <a:srgbClr val="172024"/>
                </a:solidFill>
              </a:rPr>
              <a:t>Problem statement and proposed solution</a:t>
            </a:r>
            <a:endParaRPr>
              <a:solidFill>
                <a:srgbClr val="172024"/>
              </a:solidFill>
            </a:endParaRPr>
          </a:p>
        </p:txBody>
      </p:sp>
      <p:sp>
        <p:nvSpPr>
          <p:cNvPr id="176" name="Google Shape;176;p3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3"/>
          <p:cNvSpPr txBox="1"/>
          <p:nvPr>
            <p:ph idx="1" type="body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/>
              <a:t>Problem</a:t>
            </a:r>
            <a:endParaRPr/>
          </a:p>
        </p:txBody>
      </p:sp>
      <p:sp>
        <p:nvSpPr>
          <p:cNvPr id="178" name="Google Shape;178;p3"/>
          <p:cNvSpPr txBox="1"/>
          <p:nvPr>
            <p:ph idx="2" type="body"/>
          </p:nvPr>
        </p:nvSpPr>
        <p:spPr>
          <a:xfrm>
            <a:off x="229100" y="1952325"/>
            <a:ext cx="4616700" cy="45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D1D1F"/>
                </a:solidFill>
                <a:highlight>
                  <a:srgbClr val="FFFFFF"/>
                </a:highlight>
              </a:rPr>
              <a:t>People with disabilities often deal with unnecessary barriers when they’re using digital services, government portals, and regular everyday places. While a lot of accessibility tools solve one little thing at a time, very few actually give a unified experience, one that can “read” what the person is seeing around them, explain complicated stuff, and also automate tasks in the real world.</a:t>
            </a:r>
            <a:endParaRPr/>
          </a:p>
        </p:txBody>
      </p:sp>
      <p:sp>
        <p:nvSpPr>
          <p:cNvPr id="179" name="Google Shape;179;p3"/>
          <p:cNvSpPr txBox="1"/>
          <p:nvPr>
            <p:ph idx="3" type="body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180" name="Google Shape;180;p3"/>
          <p:cNvSpPr txBox="1"/>
          <p:nvPr>
            <p:ph idx="4" type="body"/>
          </p:nvPr>
        </p:nvSpPr>
        <p:spPr>
          <a:xfrm>
            <a:off x="6089650" y="1800000"/>
            <a:ext cx="52557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D1D1F"/>
                </a:solidFill>
                <a:highlight>
                  <a:srgbClr val="FFFFFF"/>
                </a:highlight>
              </a:rPr>
              <a:t> AURA is an AI-powered accessibility companion that combines multimodal AI with UiPath intelligent automation to help people with disabilities navigate, understand, and automate everyday tasks . It is more than a typical AI assistant it’s like an intelligent accessibility companion that helps users move around, make sense of information, and finish daily activities with more confidence. and, honestly, more independence too.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81" name="Google Shape;181;p3"/>
          <p:cNvSpPr txBox="1"/>
          <p:nvPr/>
        </p:nvSpPr>
        <p:spPr>
          <a:xfrm>
            <a:off x="0" y="2721889"/>
            <a:ext cx="121794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"/>
          <p:cNvSpPr txBox="1"/>
          <p:nvPr/>
        </p:nvSpPr>
        <p:spPr>
          <a:xfrm>
            <a:off x="259203" y="360000"/>
            <a:ext cx="9000000" cy="49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 and technologies used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88" name="Google Shape;188;p4"/>
          <p:cNvGraphicFramePr/>
          <p:nvPr/>
        </p:nvGraphicFramePr>
        <p:xfrm>
          <a:off x="259199" y="11961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{D7072550-EF59-46E0-827C-C5B7B6B1D680}</a:tableStyleId>
              </a:tblPr>
              <a:tblGrid>
                <a:gridCol w="2377850"/>
                <a:gridCol w="2761375"/>
              </a:tblGrid>
              <a:tr h="1212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End-user​</a:t>
                      </a:r>
                      <a:endParaRPr b="1" i="0" sz="17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People with disabilities,Senior citizens,Government service applicants</a:t>
                      </a:r>
                      <a:endParaRPr sz="17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1212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department</a:t>
                      </a:r>
                      <a:r>
                        <a:rPr b="0" i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Government Citizen Service Centers,Disability Support Organizations,NGOs</a:t>
                      </a:r>
                      <a:endParaRPr sz="17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9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Industries</a:t>
                      </a:r>
                      <a:r>
                        <a:rPr b="0" i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Accessibility,Public Services,Government,Healthcare</a:t>
                      </a:r>
                      <a:endParaRPr sz="17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9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UiPath products used</a:t>
                      </a:r>
                      <a:r>
                        <a:rPr b="0" i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700"/>
                        <a:t> UiPath Studio - UiPath Agent Builder - UiPath Maestro 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1172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Other - integrations / APIs / technologies used</a:t>
                      </a:r>
                      <a:r>
                        <a:rPr b="0" i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700"/>
                        <a:t>React - TypeScript - Vite - Tailwind CSS - Node.js - Express.js 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4"/>
          <p:cNvSpPr/>
          <p:nvPr/>
        </p:nvSpPr>
        <p:spPr>
          <a:xfrm>
            <a:off x="359999" y="859929"/>
            <a:ext cx="10398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6438691" y="1016651"/>
            <a:ext cx="54978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Benefits, impact and outcomes</a:t>
            </a:r>
            <a:endParaRPr sz="1500"/>
          </a:p>
        </p:txBody>
      </p:sp>
      <p:sp>
        <p:nvSpPr>
          <p:cNvPr id="191" name="Google Shape;191;p4"/>
          <p:cNvSpPr txBox="1"/>
          <p:nvPr/>
        </p:nvSpPr>
        <p:spPr>
          <a:xfrm>
            <a:off x="6302301" y="1779735"/>
            <a:ext cx="5500500" cy="44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 sz="1800">
                <a:solidFill>
                  <a:srgbClr val="1D1D1F"/>
                </a:solidFill>
                <a:highlight>
                  <a:srgbClr val="FFFFFF"/>
                </a:highlight>
              </a:rPr>
              <a:t>Reduces the complexity of government paperwork through AI-guided assistance. </a:t>
            </a:r>
            <a:endParaRPr sz="18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 sz="1800">
                <a:solidFill>
                  <a:srgbClr val="1D1D1F"/>
                </a:solidFill>
                <a:highlight>
                  <a:srgbClr val="FFFFFF"/>
                </a:highlight>
              </a:rPr>
              <a:t>Enables users to understand official documents using AI-powered document intelligence. </a:t>
            </a:r>
            <a:endParaRPr sz="18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 sz="1800">
                <a:solidFill>
                  <a:srgbClr val="1D1D1F"/>
                </a:solidFill>
                <a:highlight>
                  <a:srgbClr val="FFFFFF"/>
                </a:highlight>
              </a:rPr>
              <a:t>Minimizes repetitive form filling with reusable user profiles and automation. </a:t>
            </a:r>
            <a:endParaRPr sz="18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 sz="1800">
                <a:solidFill>
                  <a:srgbClr val="1D1D1F"/>
                </a:solidFill>
                <a:highlight>
                  <a:srgbClr val="FFFFFF"/>
                </a:highlight>
              </a:rPr>
              <a:t> Improves accessibility by combining voice, vision, and document understanding in a single platform. .</a:t>
            </a:r>
            <a:endParaRPr sz="18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2222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architecture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-1" y="1414435"/>
            <a:ext cx="11459400" cy="44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D1D1F"/>
                </a:solidFill>
                <a:highlight>
                  <a:srgbClr val="FFFFFF"/>
                </a:highlight>
              </a:rPr>
              <a:t>"See complete architecture and screenshots in our GitHub repository:"</a:t>
            </a:r>
            <a:endParaRPr sz="21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D1D1F"/>
                </a:solidFill>
                <a:highlight>
                  <a:srgbClr val="FFFFFF"/>
                </a:highlight>
              </a:rPr>
              <a:t>GitHub Repo: </a:t>
            </a:r>
            <a:r>
              <a:rPr lang="en-US" sz="2100">
                <a:solidFill>
                  <a:srgbClr val="1D1D1F"/>
                </a:solidFill>
                <a:highlight>
                  <a:srgbClr val="EFEEFF"/>
                </a:highlight>
              </a:rPr>
              <a:t>https://github.com/nisithaa-03/AURA-.git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imary Presentation Layouts">
  <a:themeElements>
    <a:clrScheme name="Primary Presentation Layouts">
      <a:dk1>
        <a:srgbClr val="000000"/>
      </a:dk1>
      <a:lt1>
        <a:srgbClr val="FFFFFF"/>
      </a:lt1>
      <a:dk2>
        <a:srgbClr val="9D9D9D"/>
      </a:dk2>
      <a:lt2>
        <a:srgbClr val="A32200"/>
      </a:lt2>
      <a:accent1>
        <a:srgbClr val="FCC0C5"/>
      </a:accent1>
      <a:accent2>
        <a:srgbClr val="5BCBDE"/>
      </a:accent2>
      <a:accent3>
        <a:srgbClr val="F6F6F6"/>
      </a:accent3>
      <a:accent4>
        <a:srgbClr val="434648"/>
      </a:accent4>
      <a:accent5>
        <a:srgbClr val="FFCBFF"/>
      </a:accent5>
      <a:accent6>
        <a:srgbClr val="1168C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2025-06-06T15:41:05Z</dcterms:created>
  <dc:creator>Andreea Tomescu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0x0101006586BB0CA657274B8C976C7E0436D499</vt:lpwstr>
  </property>
  <property fmtid="{D5CDD505-2E9C-101B-9397-08002B2CF9AE}" pid="3" name="MediaServiceImageTags">
    <vt:lpwstr/>
  </property>
</Properties>
</file>